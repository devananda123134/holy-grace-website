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73" r:id="rId18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CB971B-C78D-44DA-92D1-11F7D056C609}" v="4" dt="2026-04-07T04:14:56.6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91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B51035-551B-4723-BF38-EA8E06CA86C3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865B7F-9937-4F1A-90FC-C6701A7A08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5100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65B7F-9937-4F1A-90FC-C6701A7A08CE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17861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800" cy="132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79680" cy="434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79680" cy="434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6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2CE01E3-5F30-46FF-B8A7-7ACEFB05BAC0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3800" cy="132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5920" cy="822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5920" cy="3682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1480" cy="822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1480" cy="3682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7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8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FCEEA38-04C2-489E-8A0D-E3E13B1B0AE8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800" cy="132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AB81078-4874-4FC9-A98C-A17A941C30FB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6CE009F-56BE-4BBC-9601-0FB77F3AB423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0480" cy="1598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0400" cy="487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0480" cy="380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6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FBA5D55-1E14-407B-9257-F2CB3C41CAD6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0480" cy="1598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0400" cy="4871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0480" cy="380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52FDCFE-F426-4589-8B69-6DF205E6ABF5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IN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C1902B6-5AC4-4186-A29D-0FD4EA957B5D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" name="Picture 37"/>
          <p:cNvPicPr/>
          <p:nvPr/>
        </p:nvPicPr>
        <p:blipFill>
          <a:blip r:embed="rId2"/>
          <a:stretch/>
        </p:blipFill>
        <p:spPr>
          <a:xfrm>
            <a:off x="5426280" y="6138000"/>
            <a:ext cx="1053000" cy="7192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IN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7D287A2-69C3-43E2-BB14-A4DFAAF61457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4" name="Picture 43"/>
          <p:cNvPicPr/>
          <p:nvPr/>
        </p:nvPicPr>
        <p:blipFill>
          <a:blip r:embed="rId2"/>
          <a:stretch/>
        </p:blipFill>
        <p:spPr>
          <a:xfrm>
            <a:off x="5426280" y="6138000"/>
            <a:ext cx="1053000" cy="7192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IN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1342C1D-0C7D-48E7-95E0-359E86367F32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0" name="Picture 49"/>
          <p:cNvPicPr/>
          <p:nvPr/>
        </p:nvPicPr>
        <p:blipFill>
          <a:blip r:embed="rId2"/>
          <a:stretch/>
        </p:blipFill>
        <p:spPr>
          <a:xfrm>
            <a:off x="5426280" y="6138000"/>
            <a:ext cx="1053000" cy="7192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fault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IN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06CD320-3E46-4CA5-AAF4-33D36091433A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6" name="Picture 55"/>
          <p:cNvPicPr/>
          <p:nvPr/>
        </p:nvPicPr>
        <p:blipFill>
          <a:blip r:embed="rId2">
            <a:alphaModFix amt="89000"/>
          </a:blip>
          <a:stretch/>
        </p:blipFill>
        <p:spPr>
          <a:xfrm>
            <a:off x="5760000" y="6300000"/>
            <a:ext cx="718560" cy="4197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800" cy="132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3800" cy="434952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AE0A362-519D-4AAC-BB22-384ED67575EE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7280" cy="581004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2440" cy="581004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dt" idx="34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ftr" idx="35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sldNum" idx="36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4ADE40E-E7B8-4C50-852C-C2FD63956754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800" cy="132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3800" cy="434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dt" idx="37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ftr" idx="38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sldNum" idx="39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B21B3BF-B017-43F1-A67C-22BD03B6A65F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3800" cy="2850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IN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3800" cy="1498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Edit Master text styles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dt" idx="40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ftr" idx="41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 type="sldNum" idx="42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4751E0D-3865-4AB9-BDC9-3FB9A468B9FC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mazon.in/?&amp;tag=googhydrabk1-21&amp;ref=pd_sl_5szpgfto9i_e&amp;adgrpid=155259813593&amp;hvpone=&amp;hvptwo=&amp;hvadid=793178077606&amp;hvpos=&amp;hvnetw=g&amp;hvrand=6305217987946284278&amp;hvqmt=e&amp;hvdev=c&amp;hvdvcmdl=&amp;hvlocint=&amp;hvlocphy=9149264&amp;hvtargid=kwd-64107830&amp;hydadcr=14452_2438220&amp;gad_source=1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canarabank.bank.in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hyperlink" Target="https://www.shiksha.com/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FB1214F-C1F7-48A9-9947-B73E173E29C1}" type="datetime1">
              <a:rPr lang="en-IN"/>
              <a:t>07-04-2026</a:t>
            </a:fld>
            <a:endParaRPr lang="en-IN"/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50A8E26-CCF3-4045-9C4D-0B1B862561F0}" type="slidenum">
              <a:rPr/>
              <a:t>1</a:t>
            </a:fld>
            <a:endParaRPr/>
          </a:p>
        </p:txBody>
      </p:sp>
      <p:sp>
        <p:nvSpPr>
          <p:cNvPr id="77" name="PlaceHolder 1"/>
          <p:cNvSpPr>
            <a:spLocks noGrp="1"/>
          </p:cNvSpPr>
          <p:nvPr>
            <p:ph type="title" idx="4294967295"/>
          </p:nvPr>
        </p:nvSpPr>
        <p:spPr>
          <a:xfrm>
            <a:off x="945572" y="292389"/>
            <a:ext cx="10514013" cy="1323975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92500"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AI-SUPPORT SYSTEM</a:t>
            </a:r>
            <a:endParaRPr lang="en-IN" sz="6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subTitle" idx="4294967295"/>
          </p:nvPr>
        </p:nvSpPr>
        <p:spPr>
          <a:xfrm>
            <a:off x="4116387" y="2447348"/>
            <a:ext cx="3959225" cy="2592388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20000"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60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Group NO:3</a:t>
            </a:r>
            <a:endParaRPr lang="en-IN" sz="6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60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SHEBIN T.R                          HGW23AD018</a:t>
            </a:r>
            <a:endParaRPr lang="en-IN" sz="6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60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DEVANANDA A.M               HGW23AD007</a:t>
            </a:r>
            <a:endParaRPr lang="en-IN" sz="6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60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ARCHANA K.M                     HGW23AD004</a:t>
            </a:r>
            <a:endParaRPr lang="en-IN" sz="6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60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AJAY K                                  HGW23AD002 </a:t>
            </a:r>
            <a:endParaRPr lang="en-IN" sz="6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60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BATCH: 2023-2027, 6th SEMESTER </a:t>
            </a:r>
            <a:endParaRPr lang="en-IN" sz="6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54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&amp; DATA SCIENCE </a:t>
            </a:r>
            <a:endParaRPr lang="en-IN" sz="54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843AC1-2A2A-E969-41A6-41370E37A82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2059" y="6037006"/>
            <a:ext cx="847879" cy="68159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7EDE004-CB3A-4D30-9D12-207684814EAE}" type="datetime1">
              <a:rPr lang="en-IN"/>
              <a:t>07-04-2026</a:t>
            </a:fld>
            <a:endParaRPr lang="en-IN"/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74FC986-F24A-4A0A-AECC-A199224325B6}" type="slidenum">
              <a:rPr/>
              <a:t>2</a:t>
            </a:fld>
            <a:endParaRPr/>
          </a:p>
        </p:txBody>
      </p:sp>
      <p:sp>
        <p:nvSpPr>
          <p:cNvPr id="79" name="PlaceHolder 1"/>
          <p:cNvSpPr>
            <a:spLocks noGrp="1"/>
          </p:cNvSpPr>
          <p:nvPr>
            <p:ph idx="4294967295"/>
          </p:nvPr>
        </p:nvSpPr>
        <p:spPr>
          <a:xfrm>
            <a:off x="0" y="179388"/>
            <a:ext cx="11352213" cy="607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Contents Page</a:t>
            </a:r>
            <a:endParaRPr lang="en-IN" sz="2000" b="1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IN" sz="2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Introduction</a:t>
            </a:r>
            <a:endParaRPr lang="en-IN" sz="1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Literature Review</a:t>
            </a:r>
            <a:endParaRPr lang="en-IN" sz="1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Proposed System</a:t>
            </a:r>
            <a:endParaRPr lang="en-IN" sz="1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Software /Hardware Requirement</a:t>
            </a: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s</a:t>
            </a:r>
            <a:endParaRPr lang="en-IN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0D9F8F8-2C5B-C02E-61E0-27CB130F6CB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2059" y="6037006"/>
            <a:ext cx="847879" cy="68159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F55DE4E-C65D-4AFE-86A6-50BDEF65D4AA}" type="datetime1">
              <a:rPr lang="en-IN"/>
              <a:t>07-04-2026</a:t>
            </a:fld>
            <a:endParaRPr lang="en-IN"/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9279AEC-E2D5-41C4-BEEB-9635FC206AFC}" type="slidenum">
              <a:rPr/>
              <a:t>3</a:t>
            </a:fld>
            <a:endParaRPr/>
          </a:p>
        </p:txBody>
      </p:sp>
      <p:sp>
        <p:nvSpPr>
          <p:cNvPr id="80" name="PlaceHolder 1"/>
          <p:cNvSpPr>
            <a:spLocks noGrp="1"/>
          </p:cNvSpPr>
          <p:nvPr>
            <p:ph idx="4294967295"/>
          </p:nvPr>
        </p:nvSpPr>
        <p:spPr>
          <a:xfrm>
            <a:off x="0" y="138240"/>
            <a:ext cx="11352213" cy="607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2000" lvl="1" indent="-216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Growth of digital platforms has increased the demand for automated support systems</a:t>
            </a:r>
            <a:endParaRPr lang="en-IN" sz="1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2000" lvl="1" indent="-216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support methods such as FAQs and rule-based chatbots are limited</a:t>
            </a:r>
            <a:endParaRPr lang="en-IN" sz="1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2000" lvl="1" indent="-216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Keyword-based systems fail to understand user intent accurately</a:t>
            </a:r>
            <a:endParaRPr lang="en-IN" sz="1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2000" lvl="1" indent="-216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enables natural language interaction with users</a:t>
            </a:r>
            <a:endParaRPr lang="en-IN" sz="1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2000" lvl="1" indent="-216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Large Language Models generate fluent responses but may produce incorrect information</a:t>
            </a:r>
            <a:endParaRPr lang="en-IN" sz="1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2000" lvl="1" indent="-216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Retrieval-based approaches reduce hallucination by grounding answers in documents</a:t>
            </a:r>
            <a:endParaRPr lang="en-IN" sz="1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2000" lvl="1" indent="-216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The proposed</a:t>
            </a:r>
            <a:r>
              <a:rPr lang="en-US" sz="16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General AI Support System </a:t>
            </a: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uses semantic search for information retrieval</a:t>
            </a:r>
            <a:endParaRPr lang="en-IN" sz="1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2000" lvl="1" indent="-216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Accurate responses are generated using relevant document content</a:t>
            </a:r>
            <a:endParaRPr lang="en-IN" sz="1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2000" lvl="1" indent="-216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domain-independent and adaptable to multiple applications</a:t>
            </a:r>
            <a:endParaRPr lang="en-IN" sz="1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2000" lvl="1" indent="-216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It reduces dependency on manual customer support</a:t>
            </a:r>
            <a:endParaRPr lang="en-IN" sz="1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en-IN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15B909F-83DF-0EA0-1183-B2504B3289B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2059" y="6037006"/>
            <a:ext cx="847879" cy="68159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4254FC7-2B6E-40B8-B148-532A8612FC1C}" type="datetime1">
              <a:rPr lang="en-IN"/>
              <a:t>07-04-2026</a:t>
            </a:fld>
            <a:endParaRPr lang="en-IN"/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FEFFCF6-1FD3-424C-8EDD-AD5AF58AE638}" type="slidenum">
              <a:rPr/>
              <a:t>4</a:t>
            </a:fld>
            <a:endParaRPr/>
          </a:p>
        </p:txBody>
      </p:sp>
      <p:sp>
        <p:nvSpPr>
          <p:cNvPr id="81" name="PlaceHolder 1"/>
          <p:cNvSpPr>
            <a:spLocks noGrp="1"/>
          </p:cNvSpPr>
          <p:nvPr>
            <p:ph idx="4294967295"/>
          </p:nvPr>
        </p:nvSpPr>
        <p:spPr>
          <a:xfrm>
            <a:off x="127322" y="285920"/>
            <a:ext cx="11352213" cy="607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review-1 </a:t>
            </a:r>
          </a:p>
          <a:p>
            <a:pPr indent="0" algn="ctr"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Enhancing Bank Website Accessibility and User Experience through an AI-Driven Information Assistant</a:t>
            </a:r>
            <a:endParaRPr lang="en-IN" sz="18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ctr"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Author: A Avagyan, D Davtyan</a:t>
            </a:r>
          </a:p>
          <a:p>
            <a:pPr indent="0" algn="ctr"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Year Of Publication:2024</a:t>
            </a:r>
          </a:p>
          <a:p>
            <a:pPr marL="0" indent="0">
              <a:buNone/>
            </a:pPr>
            <a:endParaRPr lang="en-GB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D15FF2F-2C2D-D61C-512C-615D1AC577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2059" y="6037006"/>
            <a:ext cx="847879" cy="681593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E9D414F6-AA3D-65C8-10DE-5E9997183E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851" y="1744804"/>
            <a:ext cx="12328174" cy="4462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 websites rely on keyword-based search systems that fail to understand user intent.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often receive irrelevant information and must navigate multiple pages to find answers.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guidance and complex website structures increase user frustration and support requests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paper proposes BIRA, an AI-driven information assistant for bank websites.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BIRA uses Retrieval-Augmented Generation (RAG) to combine real website data with a language model.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Website content is processed using </a:t>
            </a:r>
            <a:r>
              <a:rPr lang="en-GB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LangChain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stored as embeddings in </a:t>
            </a:r>
            <a:r>
              <a:rPr lang="en-GB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ChromaDB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assistant provides instant, accurate, and context-aware responses, improving accessibility and user experience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7B85028-FAC1-4FC5-8952-E472EF371E69}" type="datetime1">
              <a:rPr lang="en-IN"/>
              <a:t>07-04-2026</a:t>
            </a:fld>
            <a:endParaRPr lang="en-IN"/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2B2E862-B5AA-47A7-AF43-052E159C4C5A}" type="slidenum">
              <a:rPr/>
              <a:t>5</a:t>
            </a:fld>
            <a:endParaRPr/>
          </a:p>
        </p:txBody>
      </p:sp>
      <p:sp>
        <p:nvSpPr>
          <p:cNvPr id="82" name="PlaceHolder 1"/>
          <p:cNvSpPr>
            <a:spLocks noGrp="1"/>
          </p:cNvSpPr>
          <p:nvPr>
            <p:ph idx="4294967295"/>
          </p:nvPr>
        </p:nvSpPr>
        <p:spPr>
          <a:xfrm>
            <a:off x="233680" y="307202"/>
            <a:ext cx="11352213" cy="607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en-IN" sz="14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follows the Retrieval-Augmented Generation (RAG) framework to generate accurate responses.</a:t>
            </a:r>
          </a:p>
          <a:p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 website content is collected using ethical web scraping methods.</a:t>
            </a:r>
          </a:p>
          <a:p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webpage is converted into a structured document format.</a:t>
            </a:r>
          </a:p>
          <a:p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documents are transformed into vector embeddings.</a:t>
            </a:r>
          </a:p>
          <a:p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embeddings are stored in </a:t>
            </a:r>
            <a:r>
              <a:rPr lang="en-GB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ChromaDB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acts as a vector database.</a:t>
            </a:r>
          </a:p>
          <a:p>
            <a:r>
              <a:rPr lang="en-GB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LangChain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used to connect document retrieval with the language model.</a:t>
            </a:r>
          </a:p>
          <a:p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large language model generates answers using the retrieved information.</a:t>
            </a:r>
          </a:p>
          <a:p>
            <a:pPr marL="0" indent="0">
              <a:buNone/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successfully answers a wide range of banking-related queries.</a:t>
            </a:r>
          </a:p>
          <a:p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responses are accurate and relevant to user questions.</a:t>
            </a:r>
          </a:p>
          <a:p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 of real website data reduces incorrect or misleading answers.</a:t>
            </a:r>
          </a:p>
          <a:p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improves user experience and reduces the workload on customer support.</a:t>
            </a:r>
          </a:p>
          <a:p>
            <a:pPr marL="228600"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en-IN" sz="14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13D65E9-EE45-3110-B680-5218493CF51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2059" y="6037006"/>
            <a:ext cx="847879" cy="68159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3"/>
          <p:cNvSpPr>
            <a:spLocks noGrp="1"/>
          </p:cNvSpPr>
          <p:nvPr>
            <p:ph type="dt" idx="10"/>
          </p:nvPr>
        </p:nvSpPr>
        <p:spPr>
          <a:xfrm>
            <a:off x="235179" y="6383764"/>
            <a:ext cx="2741400" cy="363240"/>
          </a:xfrm>
        </p:spPr>
        <p:txBody>
          <a:bodyPr/>
          <a:lstStyle/>
          <a:p>
            <a:fld id="{EEB4BB4D-78E6-4088-A3E4-9A3284AFB5D3}" type="datetime1">
              <a:rPr lang="en-IN"/>
              <a:pPr/>
              <a:t>07-04-2026</a:t>
            </a:fld>
            <a:endParaRPr lang="en-IN" dirty="0"/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6A97315-A224-45C8-9DA5-87CCF39B0907}" type="slidenum">
              <a:rPr/>
              <a:t>6</a:t>
            </a:fld>
            <a:endParaRPr/>
          </a:p>
        </p:txBody>
      </p:sp>
      <p:sp>
        <p:nvSpPr>
          <p:cNvPr id="83" name="PlaceHolder 1"/>
          <p:cNvSpPr>
            <a:spLocks noGrp="1"/>
          </p:cNvSpPr>
          <p:nvPr>
            <p:ph idx="4294967295"/>
          </p:nvPr>
        </p:nvSpPr>
        <p:spPr>
          <a:xfrm>
            <a:off x="235179" y="285920"/>
            <a:ext cx="11352213" cy="607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IN" sz="1800" b="1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review-2</a:t>
            </a:r>
            <a:endParaRPr lang="en-IN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Systematic Analysis of Retrieval - Augmented Generation-Based LLMs for Medical Chatbot Applications </a:t>
            </a:r>
            <a:endParaRPr lang="en-IN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Author: Arunabh Bora and Heriberto </a:t>
            </a:r>
            <a:r>
              <a:rPr lang="en-US" sz="1600" b="0" u="none" strike="noStrike" dirty="0" err="1">
                <a:solidFill>
                  <a:schemeClr val="dk1"/>
                </a:solidFill>
                <a:effectLst/>
                <a:uFillTx/>
                <a:latin typeface="Times New Roman"/>
              </a:rPr>
              <a:t>Cuayáhuitl</a:t>
            </a: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endParaRPr lang="en-IN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Year Of Publication:2024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chatbots must give accurate and trustworthy answers.</a:t>
            </a:r>
          </a:p>
          <a:p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large language models can produce incorrect or hallucinated medical information.</a:t>
            </a:r>
          </a:p>
          <a:p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Fine-tuning alone does not always solve accuracy and reliability issues.</a:t>
            </a:r>
          </a:p>
          <a:p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computational cost limits real-world medical chatbot deployment.</a:t>
            </a:r>
          </a:p>
          <a:p>
            <a:pPr marL="0" indent="0">
              <a:buNone/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study how Retrieval-Augmented Generation (RAG) improves medical chatbot performance.</a:t>
            </a:r>
          </a:p>
          <a:p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compare base models, fine-tuned models, and RAG-based models.</a:t>
            </a:r>
          </a:p>
          <a:p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evaluate models in resource-constrained environments.</a:t>
            </a:r>
          </a:p>
          <a:p>
            <a:pPr marL="228600"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20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endParaRPr lang="en-IN" sz="12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endParaRPr lang="en-IN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endParaRPr lang="en-IN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404783-31E6-2325-5F51-0246D43A2ECE}"/>
              </a:ext>
            </a:extLst>
          </p:cNvPr>
          <p:cNvSpPr txBox="1"/>
          <p:nvPr/>
        </p:nvSpPr>
        <p:spPr>
          <a:xfrm>
            <a:off x="838080" y="5667674"/>
            <a:ext cx="61646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CFB28AA-4832-6171-D691-F6DB0FDE97D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2059" y="6037006"/>
            <a:ext cx="847879" cy="68159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7D49FFC-39A5-46C3-8843-3FFE2F4F8522}" type="datetime1">
              <a:rPr lang="en-IN"/>
              <a:t>07-04-2026</a:t>
            </a:fld>
            <a:endParaRPr lang="en-IN"/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36387AA-438D-441B-B22E-B999B92CA91C}" type="slidenum">
              <a:rPr/>
              <a:t>7</a:t>
            </a:fld>
            <a:endParaRPr/>
          </a:p>
        </p:txBody>
      </p:sp>
      <p:sp>
        <p:nvSpPr>
          <p:cNvPr id="84" name="PlaceHolder 1"/>
          <p:cNvSpPr>
            <a:spLocks noGrp="1"/>
          </p:cNvSpPr>
          <p:nvPr>
            <p:ph idx="4294967295"/>
          </p:nvPr>
        </p:nvSpPr>
        <p:spPr>
          <a:xfrm>
            <a:off x="335280" y="285920"/>
            <a:ext cx="11352213" cy="607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0" indent="0">
              <a:buNone/>
            </a:pPr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pPr marL="0" indent="0">
              <a:buNone/>
            </a:pPr>
            <a:endParaRPr lang="en-GB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open-source LLMs are evaluated: Flan-T5-Large, LLaMA-2-7B, and Mistral-7B.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datasets such as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MedMCQA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Meadow-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MedQA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used.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books and journals are stored in a vector database for RAG.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are tested under three settings:</a:t>
            </a: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 model with RAG</a:t>
            </a: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Fine-tuned model without RAG</a:t>
            </a: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Fine-tuned model with RAG</a:t>
            </a:r>
          </a:p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Results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Fine-tuned models with RAG give the best accuracy.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 reduces hallucinations in medical answers.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Mistral-7B with RAG performs best overall.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Type-A MCQ evaluation performs better than Type-B.</a:t>
            </a:r>
          </a:p>
          <a:p>
            <a:pPr marL="228600"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en-IN" sz="14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BD8712C-9EEC-0656-A5AE-CC765B5ABF0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2059" y="6037006"/>
            <a:ext cx="847879" cy="68159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7154182-100B-406F-8EAE-8C12E8BB30AC}" type="datetime1">
              <a:rPr lang="en-IN"/>
              <a:t>07-04-2026</a:t>
            </a:fld>
            <a:endParaRPr lang="en-IN"/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3B3421E-6300-4DD9-8DC6-7B9A3E76AEF4}" type="slidenum">
              <a:rPr/>
              <a:t>8</a:t>
            </a:fld>
            <a:endParaRPr/>
          </a:p>
        </p:txBody>
      </p:sp>
      <p:sp>
        <p:nvSpPr>
          <p:cNvPr id="85" name="PlaceHolder 1"/>
          <p:cNvSpPr>
            <a:spLocks noGrp="1"/>
          </p:cNvSpPr>
          <p:nvPr>
            <p:ph idx="4294967295"/>
          </p:nvPr>
        </p:nvSpPr>
        <p:spPr>
          <a:xfrm>
            <a:off x="294640" y="138240"/>
            <a:ext cx="11352213" cy="607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IN" sz="1800" b="1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review-3</a:t>
            </a:r>
            <a:endParaRPr lang="en-IN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AI Chatbot using Retrieval-Augmented Generation with Custom Dataset Integration</a:t>
            </a:r>
            <a:endParaRPr lang="en-IN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Author:</a:t>
            </a:r>
            <a:r>
              <a:rPr lang="en-US" sz="1600" dirty="0">
                <a:solidFill>
                  <a:schemeClr val="dk1"/>
                </a:solidFill>
                <a:latin typeface="Times New Roman"/>
              </a:rPr>
              <a:t> J Ahmad</a:t>
            </a: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, MMK Mahin </a:t>
            </a:r>
            <a:endParaRPr lang="en-IN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0" indent="0" algn="ctr">
              <a:buNone/>
            </a:pP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   Year Of Publication:2025</a:t>
            </a:r>
          </a:p>
          <a:p>
            <a:pPr marL="0" indent="0">
              <a:buNone/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students struggle to understand mathematical concepts and multi-step problem solving.</a:t>
            </a:r>
          </a:p>
          <a:p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learning methods do not provide instant, personalized help.</a:t>
            </a:r>
          </a:p>
          <a:p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chatbots often fail to explain reasoning steps clearly.</a:t>
            </a:r>
          </a:p>
          <a:p>
            <a:pPr marL="0" indent="0">
              <a:buNone/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paper proposes an AI-based mathematical chatbot.</a:t>
            </a:r>
          </a:p>
          <a:p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Large Language Models (LLMs) to solve math problems step by step.</a:t>
            </a:r>
          </a:p>
          <a:p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Retrieval-Augmented Generation (RAG) is used to support the model with relevant mathematical knowledge.</a:t>
            </a:r>
          </a:p>
          <a:p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built using Google Vertex AI Agent Builder and </a:t>
            </a:r>
            <a:r>
              <a:rPr lang="en-GB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Dialogflow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28600"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en-IN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ACA8D82-D550-041E-E7EB-F643A1BE4CF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2059" y="6037006"/>
            <a:ext cx="847879" cy="68159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89B7BC9-292B-4446-A44A-0389FC799BC2}" type="datetime1">
              <a:rPr lang="en-IN"/>
              <a:t>07-04-2026</a:t>
            </a:fld>
            <a:endParaRPr lang="en-IN"/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815FA8F-02CF-4682-8A23-72523C4C78EB}" type="slidenum">
              <a:rPr/>
              <a:t>9</a:t>
            </a:fld>
            <a:endParaRPr/>
          </a:p>
        </p:txBody>
      </p:sp>
      <p:sp>
        <p:nvSpPr>
          <p:cNvPr id="86" name="PlaceHolder 1"/>
          <p:cNvSpPr>
            <a:spLocks noGrp="1"/>
          </p:cNvSpPr>
          <p:nvPr>
            <p:ph idx="4294967295"/>
          </p:nvPr>
        </p:nvSpPr>
        <p:spPr>
          <a:xfrm>
            <a:off x="274320" y="138240"/>
            <a:ext cx="11352213" cy="607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en-IN" sz="12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Mathematical datasets such as GSM8K, Google DeepMind Math, and Bangla Math datasets are used.</a:t>
            </a:r>
          </a:p>
          <a:p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 retrieves relevant examples or rules when needed during problem solving.</a:t>
            </a:r>
          </a:p>
          <a:p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chatbot provides explanations in English and Bangla.</a:t>
            </a:r>
          </a:p>
          <a:p>
            <a:pPr marL="0" indent="0">
              <a:buNone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chatbot successfully solves various mathematical problems.</a:t>
            </a:r>
          </a:p>
          <a:p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Step-by-step explanations improve student understanding.</a:t>
            </a:r>
          </a:p>
          <a:p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shows better accuracy and reasoning compared to basic chatbots.</a:t>
            </a:r>
          </a:p>
          <a:p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be used as an effective learning support tool in education.</a:t>
            </a: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endParaRPr lang="en-IN" sz="13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3BBD150-1B10-B218-C868-B847F46932E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2059" y="6037006"/>
            <a:ext cx="847879" cy="68159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7C69F35-0F8F-4524-AEE2-FEB947E70421}" type="datetime1">
              <a:rPr lang="en-IN"/>
              <a:t>07-04-2026</a:t>
            </a:fld>
            <a:endParaRPr lang="en-IN"/>
          </a:p>
        </p:txBody>
      </p:sp>
      <p:sp>
        <p:nvSpPr>
          <p:cNvPr id="2" name="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52A703A-F988-4E78-A380-DEDC6384F7DF}" type="slidenum">
              <a:rPr/>
              <a:t>10</a:t>
            </a:fld>
            <a:endParaRPr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E28C33A-ED1C-D8EA-CCD4-2EE5CF4653C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4159" y="1576535"/>
            <a:ext cx="5113841" cy="2984711"/>
          </a:xfrm>
          <a:prstGeom prst="rect">
            <a:avLst/>
          </a:prstGeom>
        </p:spPr>
      </p:pic>
      <p:sp>
        <p:nvSpPr>
          <p:cNvPr id="87" name="Rectangle 86"/>
          <p:cNvSpPr/>
          <p:nvPr/>
        </p:nvSpPr>
        <p:spPr>
          <a:xfrm>
            <a:off x="180000" y="180000"/>
            <a:ext cx="11699280" cy="53589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– 4</a:t>
            </a:r>
          </a:p>
          <a:p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Shopping Assistant Chatbot (Amazon – Rufus AI)</a:t>
            </a:r>
          </a:p>
          <a:p>
            <a:endParaRPr lang="en-GB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Rufus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AI-powered shopping assistant that helps users with</a:t>
            </a:r>
          </a:p>
          <a:p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product discovery, recommendations, and deals within the Amazon </a:t>
            </a:r>
          </a:p>
          <a:p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platform</a:t>
            </a:r>
          </a:p>
          <a:p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chatbot is task-oriented and domain-specific, </a:t>
            </a:r>
          </a:p>
          <a:p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focusing only on e-commerce-related interactions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queries are handled using predefined intents and internal </a:t>
            </a:r>
          </a:p>
          <a:p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product data rather than document-based semantic retrieval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system highlights the limitation of task-specific chatbots </a:t>
            </a:r>
          </a:p>
          <a:p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and motivates the need for a general, document-driven AI support system</a:t>
            </a:r>
          </a:p>
          <a:p>
            <a:pPr marL="285750" indent="-28575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IN" sz="14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IN" sz="14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944050-0D05-B257-95BF-F764759F844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761" y="6097869"/>
            <a:ext cx="847879" cy="68159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ctangle 88"/>
          <p:cNvSpPr/>
          <p:nvPr/>
        </p:nvSpPr>
        <p:spPr>
          <a:xfrm>
            <a:off x="180000" y="180000"/>
            <a:ext cx="11829120" cy="9526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IN" sz="1600" b="1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LITERATURE</a:t>
            </a:r>
            <a:r>
              <a:rPr lang="en-IN" b="1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b="1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  <a:r>
              <a:rPr lang="en-IN" b="1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– 5</a:t>
            </a:r>
            <a:endParaRPr lang="en-IN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</a:pPr>
            <a:r>
              <a:rPr lang="en-IN" b="1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Menu-Driven Banking Chatbot (Canara Bank – AURA Assistant)</a:t>
            </a:r>
            <a:endParaRPr lang="en-IN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</a:pPr>
            <a:r>
              <a:rPr lang="en-IN" sz="10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90" name="Picture 89"/>
          <p:cNvPicPr/>
          <p:nvPr/>
        </p:nvPicPr>
        <p:blipFill>
          <a:blip r:embed="rId2"/>
          <a:stretch/>
        </p:blipFill>
        <p:spPr>
          <a:xfrm>
            <a:off x="448014" y="3517726"/>
            <a:ext cx="4907880" cy="251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0DD5009-1A71-4543-A309-95838111EC34}" type="datetime1">
              <a:rPr lang="en-IN"/>
              <a:t>07-04-2026</a:t>
            </a:fld>
            <a:endParaRPr lang="en-IN"/>
          </a:p>
        </p:txBody>
      </p:sp>
      <p:sp>
        <p:nvSpPr>
          <p:cNvPr id="2" name="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0BEFB2E-E2A9-4AA9-8BD4-D1EA44CB674D}" type="slidenum">
              <a:rPr/>
              <a:t>11</a:t>
            </a:fld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1C79DC-1D40-C52A-BD48-86F92630D99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2059" y="6037006"/>
            <a:ext cx="847879" cy="681593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DE2C8D5-3D50-33DE-760F-DCA9D73753D8}"/>
              </a:ext>
            </a:extLst>
          </p:cNvPr>
          <p:cNvSpPr/>
          <p:nvPr/>
        </p:nvSpPr>
        <p:spPr>
          <a:xfrm>
            <a:off x="6054093" y="3609220"/>
            <a:ext cx="5112774" cy="188779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AC2E1A4-4E84-0086-61FD-D7DFFFBBC502}"/>
              </a:ext>
            </a:extLst>
          </p:cNvPr>
          <p:cNvSpPr/>
          <p:nvPr/>
        </p:nvSpPr>
        <p:spPr>
          <a:xfrm>
            <a:off x="694666" y="901095"/>
            <a:ext cx="10718853" cy="241627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15C80A72-45D4-3228-24B2-E022F32CEE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009" y="1962857"/>
            <a:ext cx="306955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banking chatbot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operates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6C88213-341C-91CA-5D38-52566C200B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8708" y="1941135"/>
            <a:ext cx="9893029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b="1" dirty="0">
                <a:latin typeface="Arial" panose="020B0604020202020204" pitchFamily="34" charset="0"/>
              </a:rPr>
              <a:t>                          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allows users to interact through text-based chat for accessing banking services.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queries are processed using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basic natural language understanding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 mapped to predefined intents.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Conversations follow a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predefined and controlled flow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ensure accuracy and security.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effectively handles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common banking requests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but has limitations with complex or open-ended queries.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48F14B7-090E-C745-F740-12C0061CC1C8}"/>
              </a:ext>
            </a:extLst>
          </p:cNvPr>
          <p:cNvSpPr/>
          <p:nvPr/>
        </p:nvSpPr>
        <p:spPr>
          <a:xfrm>
            <a:off x="296772" y="2523795"/>
            <a:ext cx="6223166" cy="312665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169748" y="159806"/>
            <a:ext cx="11798732" cy="36610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IN" sz="1600" b="1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– 6</a:t>
            </a:r>
          </a:p>
          <a:p>
            <a:pPr algn="ctr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Educational Support Chatbot (</a:t>
            </a:r>
            <a:r>
              <a:rPr lang="en-GB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ShikshaGPT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buNone/>
            </a:pPr>
            <a:endParaRPr lang="en-GB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GB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GB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ShikshaGPT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AI-based support for education-related queries such as admissions, fees, placements, and exams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chatbot is domain-specific, focusing only on educational information and guidance</a:t>
            </a:r>
          </a:p>
          <a:p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queries are handled using LLMs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does not allow dynamic document upload or real-time knowledge expansion</a:t>
            </a:r>
          </a:p>
          <a:p>
            <a:pPr>
              <a:lnSpc>
                <a:spcPct val="100000"/>
              </a:lnSpc>
            </a:pPr>
            <a:endParaRPr lang="en-IN" sz="14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IN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5C3FC27-F430-43A4-9463-1556296C70B4}" type="datetime1">
              <a:rPr lang="en-IN"/>
              <a:t>07-04-2026</a:t>
            </a:fld>
            <a:endParaRPr lang="en-IN"/>
          </a:p>
        </p:txBody>
      </p:sp>
      <p:sp>
        <p:nvSpPr>
          <p:cNvPr id="2" name="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3264B59-B115-4D91-9EB5-844181F948A9}" type="slidenum">
              <a:rPr/>
              <a:t>12</a:t>
            </a:fld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A5B7F2-AFEF-E33A-B314-8C76D680D1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2059" y="6037006"/>
            <a:ext cx="847879" cy="681593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E2638EA-C111-05B3-643B-1F27AE55B6C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6962" y="3356461"/>
            <a:ext cx="5545038" cy="264702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6B02420-7708-426B-9CA5-DBB6CA88CB9F}" type="datetime1">
              <a:rPr lang="en-IN"/>
              <a:t>07-04-2026</a:t>
            </a:fld>
            <a:endParaRPr lang="en-IN"/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D32A02B-3C7F-48F5-BCE7-5833A844E115}" type="slidenum">
              <a:rPr/>
              <a:t>13</a:t>
            </a:fld>
            <a:endParaRPr/>
          </a:p>
        </p:txBody>
      </p:sp>
      <p:sp>
        <p:nvSpPr>
          <p:cNvPr id="94" name="PlaceHolder 1"/>
          <p:cNvSpPr>
            <a:spLocks noGrp="1"/>
          </p:cNvSpPr>
          <p:nvPr>
            <p:ph idx="4294967295"/>
          </p:nvPr>
        </p:nvSpPr>
        <p:spPr>
          <a:xfrm>
            <a:off x="223520" y="138240"/>
            <a:ext cx="11352213" cy="607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0" indent="0" algn="ctr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None/>
            </a:pPr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Software/Hardware Requirements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endParaRPr lang="en-US" sz="24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0" indent="0">
              <a:spcBef>
                <a:spcPts val="1001"/>
              </a:spcBef>
              <a:buClr>
                <a:srgbClr val="000000"/>
              </a:buClr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 </a:t>
            </a:r>
          </a:p>
          <a:p>
            <a:pPr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 (Backend)</a:t>
            </a:r>
          </a:p>
          <a:p>
            <a:pPr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Flask (Frame work)</a:t>
            </a:r>
          </a:p>
          <a:p>
            <a:pPr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Cloud LLM – using API</a:t>
            </a:r>
          </a:p>
          <a:p>
            <a:pPr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Document Converter &amp; Vector DB modules </a:t>
            </a:r>
          </a:p>
          <a:p>
            <a:pPr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HTML,CSS,JS frontend</a:t>
            </a:r>
          </a:p>
          <a:p>
            <a:pPr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Sentence embedding model </a:t>
            </a:r>
          </a:p>
          <a:p>
            <a:pPr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MongoDB (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VS Code </a:t>
            </a:r>
          </a:p>
          <a:p>
            <a:pPr marL="0" indent="0">
              <a:spcBef>
                <a:spcPts val="1001"/>
              </a:spcBef>
              <a:buClr>
                <a:srgbClr val="000000"/>
              </a:buClr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Requirements:-</a:t>
            </a:r>
          </a:p>
          <a:p>
            <a:pPr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Desktop or Laptop </a:t>
            </a:r>
          </a:p>
          <a:p>
            <a:pPr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4gb RAM or more</a:t>
            </a:r>
          </a:p>
          <a:p>
            <a:pPr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Intel i5/AMD equivalent or more</a:t>
            </a:r>
            <a:endParaRPr lang="en-IN" sz="1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594B8C0-6BA2-AD64-0263-362AA06BCFC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2059" y="6037006"/>
            <a:ext cx="847879" cy="68159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1A537FC-C4E2-4929-85C0-F4658270D134}" type="datetime1">
              <a:rPr lang="en-IN"/>
              <a:t>07-04-2026</a:t>
            </a:fld>
            <a:endParaRPr lang="en-IN"/>
          </a:p>
        </p:txBody>
      </p:sp>
      <p:sp>
        <p:nvSpPr>
          <p:cNvPr id="2" name="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C642659-EBD5-4588-A159-F42AB353EDDF}" type="slidenum">
              <a:rPr/>
              <a:t>14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96D916-E2F0-6801-1CF9-EC9CC5C0D0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2638" y="314632"/>
            <a:ext cx="9266723" cy="50208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6FECF1E-0B96-3645-F2FB-E3F60C3D243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2059" y="6017342"/>
            <a:ext cx="847879" cy="681593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78F9069-51C8-D814-3DDB-9C5BA785BD3C}"/>
              </a:ext>
            </a:extLst>
          </p:cNvPr>
          <p:cNvSpPr/>
          <p:nvPr/>
        </p:nvSpPr>
        <p:spPr>
          <a:xfrm>
            <a:off x="2220686" y="159065"/>
            <a:ext cx="7325248" cy="52422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ECEA11-BD33-C533-031F-FBABDD7E1F3F}"/>
              </a:ext>
            </a:extLst>
          </p:cNvPr>
          <p:cNvSpPr txBox="1"/>
          <p:nvPr/>
        </p:nvSpPr>
        <p:spPr>
          <a:xfrm>
            <a:off x="3667648" y="223521"/>
            <a:ext cx="50744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SYSTEM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F5B6C0-5B37-3742-136E-907F6EDCEE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156" y="1547446"/>
            <a:ext cx="10143191" cy="49674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E68C262-3E52-B812-6DD3-8833349E3A67}"/>
              </a:ext>
            </a:extLst>
          </p:cNvPr>
          <p:cNvSpPr txBox="1"/>
          <p:nvPr/>
        </p:nvSpPr>
        <p:spPr>
          <a:xfrm>
            <a:off x="703383" y="1038602"/>
            <a:ext cx="3074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Page</a:t>
            </a:r>
          </a:p>
        </p:txBody>
      </p:sp>
    </p:spTree>
    <p:extLst>
      <p:ext uri="{BB962C8B-B14F-4D97-AF65-F5344CB8AC3E}">
        <p14:creationId xmlns:p14="http://schemas.microsoft.com/office/powerpoint/2010/main" val="13156687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B61B54-76D8-6F4A-668D-3410266797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853" y="1169433"/>
            <a:ext cx="10765134" cy="523281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DAA1871-6030-78BD-93F4-8D859B5A1E4D}"/>
              </a:ext>
            </a:extLst>
          </p:cNvPr>
          <p:cNvSpPr txBox="1"/>
          <p:nvPr/>
        </p:nvSpPr>
        <p:spPr>
          <a:xfrm>
            <a:off x="592853" y="653142"/>
            <a:ext cx="2371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 Interface</a:t>
            </a:r>
          </a:p>
        </p:txBody>
      </p:sp>
    </p:spTree>
    <p:extLst>
      <p:ext uri="{BB962C8B-B14F-4D97-AF65-F5344CB8AC3E}">
        <p14:creationId xmlns:p14="http://schemas.microsoft.com/office/powerpoint/2010/main" val="17393597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2FA5AB-6B54-6F82-CFAD-7BEF23240A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38" y="1074622"/>
            <a:ext cx="10473732" cy="524820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9FADFC6-ED76-3F75-D91D-E5D6EF6B3CBE}"/>
              </a:ext>
            </a:extLst>
          </p:cNvPr>
          <p:cNvSpPr txBox="1"/>
          <p:nvPr/>
        </p:nvSpPr>
        <p:spPr>
          <a:xfrm>
            <a:off x="673238" y="535177"/>
            <a:ext cx="3094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Console Log</a:t>
            </a:r>
          </a:p>
        </p:txBody>
      </p:sp>
    </p:spTree>
    <p:extLst>
      <p:ext uri="{BB962C8B-B14F-4D97-AF65-F5344CB8AC3E}">
        <p14:creationId xmlns:p14="http://schemas.microsoft.com/office/powerpoint/2010/main" val="5242940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756</TotalTime>
  <Words>1124</Words>
  <Application>Microsoft Office PowerPoint</Application>
  <PresentationFormat>Widescreen</PresentationFormat>
  <Paragraphs>202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Aptos</vt:lpstr>
      <vt:lpstr>Arial</vt:lpstr>
      <vt:lpstr>Calibri</vt:lpstr>
      <vt:lpstr>Calibri Light</vt:lpstr>
      <vt:lpstr>Symbol</vt:lpstr>
      <vt:lpstr>Times New Roman</vt:lpstr>
      <vt:lpstr>Wingdings</vt:lpstr>
      <vt:lpstr>Office Theme</vt:lpstr>
      <vt:lpstr>AI-SUPPORT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the Project</dc:title>
  <dc:subject/>
  <dc:creator>HP</dc:creator>
  <dc:description/>
  <cp:lastModifiedBy>devanandaam8@gmail.com</cp:lastModifiedBy>
  <cp:revision>42</cp:revision>
  <cp:lastPrinted>2026-01-14T23:55:58Z</cp:lastPrinted>
  <dcterms:created xsi:type="dcterms:W3CDTF">2025-09-16T05:30:39Z</dcterms:created>
  <dcterms:modified xsi:type="dcterms:W3CDTF">2026-04-07T04:19:36Z</dcterms:modified>
  <dc:language>en-IN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11</vt:i4>
  </property>
</Properties>
</file>